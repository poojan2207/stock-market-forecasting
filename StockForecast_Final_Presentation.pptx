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70" r:id="rId12"/>
    <p:sldId id="268" r:id="rId13"/>
    <p:sldId id="272" r:id="rId14"/>
    <p:sldId id="281" r:id="rId15"/>
    <p:sldId id="275" r:id="rId16"/>
    <p:sldId id="276" r:id="rId17"/>
    <p:sldId id="278" r:id="rId18"/>
    <p:sldId id="279" r:id="rId19"/>
    <p:sldId id="28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7" d="100"/>
          <a:sy n="117" d="100"/>
        </p:scale>
        <p:origin x="46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968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A38B-E2F1-9652-04D2-0752330F7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A7899-06BD-7C9F-E7D9-5027F2127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0FEC3-2070-AC43-A555-588270441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95201-5D2B-8225-A202-7CFF0D9690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2739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CHARUTAR VIDYA MANDAL (CVM) UNIVERSITY)  |  DEPARTMENT OF INFORMATION TECHNOLOGY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6  | CSE(IoT)|  A.Y. 2025-26 EVEN TERM  |  MINI PROJECT (202040601)  |  FINAL PRESENTATION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App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Trend Prediction Using SARIMAX Time-Series Model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71600" y="3200400"/>
            <a:ext cx="6400800" cy="0"/>
          </a:xfrm>
          <a:prstGeom prst="line">
            <a:avLst/>
          </a:prstGeom>
          <a:noFill/>
          <a:ln w="1524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Ritesh Upadhyay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3383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Poojan Patel  (12302110501080)
Shrey Patel    (12302110501081)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March 2026</a:t>
            </a:r>
            <a:endParaRPr lang="en-US" sz="10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1FCD61-AC04-FE99-967C-951087894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474" y="0"/>
            <a:ext cx="940526" cy="9405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663CFB-24EF-B807-047F-0A206775A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720" y="-228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-3069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this 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786384"/>
            <a:ext cx="384048" cy="32918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78638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" y="1271016"/>
            <a:ext cx="384048" cy="32918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12710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" y="1755648"/>
            <a:ext cx="384048" cy="32918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17556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" y="2240280"/>
            <a:ext cx="384048" cy="32918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2402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" y="2724912"/>
            <a:ext cx="384048" cy="32918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27249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" y="3209544"/>
            <a:ext cx="384048" cy="32918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2095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 &amp; Methodology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" y="3694176"/>
            <a:ext cx="384048" cy="32918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69417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Modules Explained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786384"/>
            <a:ext cx="384048" cy="329184"/>
          </a:xfrm>
          <a:prstGeom prst="rect">
            <a:avLst/>
          </a:prstGeom>
          <a:solidFill>
            <a:srgbClr val="FCBD0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7863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Backend (Hidden Feature)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1271016"/>
            <a:ext cx="384048" cy="329184"/>
          </a:xfrm>
          <a:prstGeom prst="rect">
            <a:avLst/>
          </a:prstGeom>
          <a:solidFill>
            <a:srgbClr val="FCBD0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127101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Analysis: ADF Test &amp; Decomposition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1755648"/>
            <a:ext cx="384048" cy="329184"/>
          </a:xfrm>
          <a:prstGeom prst="rect">
            <a:avLst/>
          </a:prstGeom>
          <a:solidFill>
            <a:srgbClr val="FCBD0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17556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Model &amp; Forecasting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2240280"/>
            <a:ext cx="384048" cy="329184"/>
          </a:xfrm>
          <a:prstGeom prst="rect">
            <a:avLst/>
          </a:prstGeom>
          <a:solidFill>
            <a:srgbClr val="FCBD0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22402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 &amp; Screenshots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2724912"/>
            <a:ext cx="384048" cy="329184"/>
          </a:xfrm>
          <a:prstGeom prst="rect">
            <a:avLst/>
          </a:prstGeom>
          <a:solidFill>
            <a:srgbClr val="FCBD0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27249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 &amp; Results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3209544"/>
            <a:ext cx="384048" cy="329184"/>
          </a:xfrm>
          <a:prstGeom prst="rect">
            <a:avLst/>
          </a:prstGeom>
          <a:solidFill>
            <a:srgbClr val="FCBD0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32095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63440" y="3694176"/>
            <a:ext cx="384048" cy="329184"/>
          </a:xfrm>
          <a:prstGeom prst="rect">
            <a:avLst/>
          </a:prstGeom>
          <a:solidFill>
            <a:srgbClr val="FCBD0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369417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-228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application?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822960"/>
            <a:ext cx="8778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877824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is a web-based platform that allows anyone to retrieve historical stock data, analyze trends, and forecast future prices — with zero programming knowledge required.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" y="1783080"/>
            <a:ext cx="1682496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14" name="Shape 12"/>
          <p:cNvSpPr/>
          <p:nvPr/>
        </p:nvSpPr>
        <p:spPr>
          <a:xfrm>
            <a:off x="182880" y="1783080"/>
            <a:ext cx="1682496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5" name="Text 13"/>
          <p:cNvSpPr/>
          <p:nvPr/>
        </p:nvSpPr>
        <p:spPr>
          <a:xfrm>
            <a:off x="182880" y="18288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74320" y="2359152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2706624"/>
            <a:ext cx="1499616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OHLCV historical stock data from Yahoo Finance using yfinance API for any globally listed stock.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56816" y="1783080"/>
            <a:ext cx="1682496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19" name="Shape 17"/>
          <p:cNvSpPr/>
          <p:nvPr/>
        </p:nvSpPr>
        <p:spPr>
          <a:xfrm>
            <a:off x="1956816" y="1783080"/>
            <a:ext cx="1682496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0" name="Text 18"/>
          <p:cNvSpPr/>
          <p:nvPr/>
        </p:nvSpPr>
        <p:spPr>
          <a:xfrm>
            <a:off x="1956816" y="18288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💱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048256" y="2359152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Currency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48256" y="2706624"/>
            <a:ext cx="1499616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displays the correct trading currency (₹, $, €, £, ¥) automatically for any stock.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30752" y="1783080"/>
            <a:ext cx="1682496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24" name="Shape 22"/>
          <p:cNvSpPr/>
          <p:nvPr/>
        </p:nvSpPr>
        <p:spPr>
          <a:xfrm>
            <a:off x="3730752" y="1783080"/>
            <a:ext cx="1682496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5" name="Text 23"/>
          <p:cNvSpPr/>
          <p:nvPr/>
        </p:nvSpPr>
        <p:spPr>
          <a:xfrm>
            <a:off x="3730752" y="18288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822192" y="2359152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22192" y="2706624"/>
            <a:ext cx="1499616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ADF stationarity test and seasonal decomposition (trend, seasonal, residuals) with interactive charts.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04688" y="1783080"/>
            <a:ext cx="1682496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29" name="Shape 27"/>
          <p:cNvSpPr/>
          <p:nvPr/>
        </p:nvSpPr>
        <p:spPr>
          <a:xfrm>
            <a:off x="5504688" y="1783080"/>
            <a:ext cx="1682496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0" name="Text 28"/>
          <p:cNvSpPr/>
          <p:nvPr/>
        </p:nvSpPr>
        <p:spPr>
          <a:xfrm>
            <a:off x="5504688" y="18288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596128" y="2359152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Forecast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96128" y="2706624"/>
            <a:ext cx="1499616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SARIMAX (2,1,2) (2,1,2,12) model and generates price forecast for user-defined number of days.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78624" y="1783080"/>
            <a:ext cx="1682496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34" name="Shape 32"/>
          <p:cNvSpPr/>
          <p:nvPr/>
        </p:nvSpPr>
        <p:spPr>
          <a:xfrm>
            <a:off x="7278624" y="1783080"/>
            <a:ext cx="1682496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5" name="Text 33"/>
          <p:cNvSpPr/>
          <p:nvPr/>
        </p:nvSpPr>
        <p:spPr>
          <a:xfrm>
            <a:off x="7278624" y="18288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370064" y="2359152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Backend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70064" y="2706624"/>
            <a:ext cx="1499616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panel at /?admin=1 for admins (Poojan &amp; Shrey) to monitor all user searches and model summaries.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-5486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 &amp; Our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app need to exist?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8229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12" name="Shape 10"/>
          <p:cNvSpPr/>
          <p:nvPr/>
        </p:nvSpPr>
        <p:spPr>
          <a:xfrm>
            <a:off x="182880" y="822960"/>
            <a:ext cx="4114800" cy="384048"/>
          </a:xfrm>
          <a:prstGeom prst="rect">
            <a:avLst/>
          </a:prstGeom>
          <a:solidFill>
            <a:srgbClr val="E02424"/>
          </a:solidFill>
          <a:ln w="12700">
            <a:solidFill>
              <a:srgbClr val="E02424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3" name="Text 11"/>
          <p:cNvSpPr/>
          <p:nvPr/>
        </p:nvSpPr>
        <p:spPr>
          <a:xfrm>
            <a:off x="274320" y="8595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The Problem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" y="1298448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is available but scattered — no single tool combines data retrieval, analysis, and forecasting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stock apps display USD prices for all stocks regardless of actual trading currency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models are powerful but inaccessible to non-programmers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 between casual users and technical administrators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tools expose raw error tracebacks when inputs are invalid — terrible UX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for developers to know how their tool is being used in the wild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4297680" cy="38404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8595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1298448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One-stop web app: enter ticker + dates → get full analysis &amp; forecast instantly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currency via Yahoo Finance metadata (₹ for NSE, $ for NYSE, € for XETRA, etc.)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model runs in the background — user sees only clean charts and results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app has zero login; admin backend hidden at /?admin=1 URL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amber/red info boxes replace all raw Python error tracebacks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JSON logging records every search for admin review and CSV export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aims to achieve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20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" y="8229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" y="1152144"/>
            <a:ext cx="4206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fully functional web-based stock forecasting app using Python + Streamlit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yfinance API for automated OHLCV data retrieval from Yahoo Finance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SARIMAX time-series forecasting model (order 2,1,2 seasonal 12)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interactive Plotly visualizations accessible to non-technical users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hidden admin backend to monitor all user activity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" y="31089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Objectives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" y="3374136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trading currency for any global stock (14 currencies supported)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stationarity test with clear pass/fail visual result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decomposition into trend, seasonal, residual components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input validation with friendly error messages — no raw tracebacks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000" dirty="0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42976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859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2801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15544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stock listed on Yahoo Finance (NSE, BSE, NYSE, NASDAQ, LSE, etc.)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range: Jan 2000 to today, forecast up to 365 days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currency symbols auto-detected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roles: public user &amp; admin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0175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✗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32918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intraday tick-by-tick streaming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analysis (earnings, balance sheet)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(LSTM, Transformer)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&amp; mobile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-11757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&amp; Why We Chose SARIMAX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822959"/>
            <a:ext cx="2761488" cy="3645843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 dirty="0"/>
          </a:p>
        </p:txBody>
      </p:sp>
      <p:sp>
        <p:nvSpPr>
          <p:cNvPr id="12" name="Shape 10"/>
          <p:cNvSpPr/>
          <p:nvPr/>
        </p:nvSpPr>
        <p:spPr>
          <a:xfrm>
            <a:off x="182880" y="822960"/>
            <a:ext cx="2761488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13" name="Text 11"/>
          <p:cNvSpPr/>
          <p:nvPr/>
        </p:nvSpPr>
        <p:spPr>
          <a:xfrm>
            <a:off x="292608" y="85953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" y="1389888"/>
            <a:ext cx="257860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— models trend + autocorrelation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— adds seasonal components ✓ Used here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— models volatility clustering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Smoothing — simple baseline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71616" y="1298447"/>
            <a:ext cx="2761488" cy="3170353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 dirty="0"/>
          </a:p>
        </p:txBody>
      </p:sp>
      <p:sp>
        <p:nvSpPr>
          <p:cNvPr id="16" name="Shape 14"/>
          <p:cNvSpPr/>
          <p:nvPr/>
        </p:nvSpPr>
        <p:spPr>
          <a:xfrm>
            <a:off x="3127248" y="822960"/>
            <a:ext cx="276148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17" name="Text 15"/>
          <p:cNvSpPr/>
          <p:nvPr/>
        </p:nvSpPr>
        <p:spPr>
          <a:xfrm>
            <a:off x="3236976" y="85953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89904" y="1316736"/>
            <a:ext cx="2743200" cy="3152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has natural trend + seasonal components.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SARIMAX handles both without extra preprocessing.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Stats models provides a production-ready implementation.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Fewer hyperparameters than deep learning.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summary (AIC, BIC,         p-values) is interpretable by admins.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 moderate datasets (6–24 months).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27248" y="1298448"/>
            <a:ext cx="2761488" cy="317035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 dirty="0"/>
          </a:p>
        </p:txBody>
      </p:sp>
      <p:sp>
        <p:nvSpPr>
          <p:cNvPr id="20" name="Shape 18"/>
          <p:cNvSpPr/>
          <p:nvPr/>
        </p:nvSpPr>
        <p:spPr>
          <a:xfrm>
            <a:off x="6071616" y="822960"/>
            <a:ext cx="2761488" cy="47548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21" name="Text 19"/>
          <p:cNvSpPr/>
          <p:nvPr/>
        </p:nvSpPr>
        <p:spPr>
          <a:xfrm>
            <a:off x="6181344" y="964039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SARIMAX?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18688" y="1431689"/>
            <a:ext cx="257860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Gradient Boosting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 (SVM)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captures long-term dependencies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— attention-based forecasting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" y="3931920"/>
            <a:ext cx="1645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828800" y="3931920"/>
            <a:ext cx="7040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-502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669971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822960"/>
            <a:ext cx="2761488" cy="2263951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 dirty="0"/>
          </a:p>
        </p:txBody>
      </p:sp>
      <p:sp>
        <p:nvSpPr>
          <p:cNvPr id="12" name="Shape 10"/>
          <p:cNvSpPr/>
          <p:nvPr/>
        </p:nvSpPr>
        <p:spPr>
          <a:xfrm>
            <a:off x="182880" y="822960"/>
            <a:ext cx="2761488" cy="42062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13" name="Text 11"/>
          <p:cNvSpPr/>
          <p:nvPr/>
        </p:nvSpPr>
        <p:spPr>
          <a:xfrm>
            <a:off x="274320" y="85953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" y="1353312"/>
            <a:ext cx="257860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framework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styling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interactive charts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URL-based routing (?admin=1)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flipV="1">
            <a:off x="2926080" y="2035688"/>
            <a:ext cx="201168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16" name="Shape 14"/>
          <p:cNvSpPr/>
          <p:nvPr/>
        </p:nvSpPr>
        <p:spPr>
          <a:xfrm>
            <a:off x="3127248" y="822960"/>
            <a:ext cx="2761488" cy="226395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 dirty="0"/>
          </a:p>
        </p:txBody>
      </p:sp>
      <p:sp>
        <p:nvSpPr>
          <p:cNvPr id="17" name="Shape 15"/>
          <p:cNvSpPr/>
          <p:nvPr/>
        </p:nvSpPr>
        <p:spPr>
          <a:xfrm>
            <a:off x="3127248" y="822960"/>
            <a:ext cx="2761488" cy="420624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18" name="Text 16"/>
          <p:cNvSpPr/>
          <p:nvPr/>
        </p:nvSpPr>
        <p:spPr>
          <a:xfrm>
            <a:off x="3218688" y="85953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36976" y="1281466"/>
            <a:ext cx="257860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module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detection (yfinance.info)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stationarity test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decomposition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model fitting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JSON logging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flipV="1">
            <a:off x="5888736" y="2035688"/>
            <a:ext cx="18288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21" name="Shape 19"/>
          <p:cNvSpPr/>
          <p:nvPr/>
        </p:nvSpPr>
        <p:spPr>
          <a:xfrm>
            <a:off x="6071616" y="822960"/>
            <a:ext cx="2761488" cy="226395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 dirty="0"/>
          </a:p>
        </p:txBody>
      </p:sp>
      <p:sp>
        <p:nvSpPr>
          <p:cNvPr id="22" name="Shape 20"/>
          <p:cNvSpPr/>
          <p:nvPr/>
        </p:nvSpPr>
        <p:spPr>
          <a:xfrm>
            <a:off x="6071616" y="822960"/>
            <a:ext cx="2761488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23" name="Text 21"/>
          <p:cNvSpPr/>
          <p:nvPr/>
        </p:nvSpPr>
        <p:spPr>
          <a:xfrm>
            <a:off x="6163056" y="85953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63056" y="1353312"/>
            <a:ext cx="257860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API (yfinance)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historical data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metadata (currency)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search_log.json (admin log)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5943" y="3376752"/>
            <a:ext cx="8778240" cy="1038494"/>
          </a:xfrm>
          <a:prstGeom prst="rect">
            <a:avLst/>
          </a:prstGeom>
          <a:solidFill>
            <a:srgbClr val="F7F8FA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26" name="Text 24"/>
          <p:cNvSpPr/>
          <p:nvPr/>
        </p:nvSpPr>
        <p:spPr>
          <a:xfrm>
            <a:off x="237744" y="3656453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 →  Validation  →  Yahoo Finance API  →  Processing (ADF + Decompose + SARIMA)  →  Silent Log  →  Plotly Charts  →  User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-2155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libraries used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" y="82296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12" name="Shape 10"/>
          <p:cNvSpPr/>
          <p:nvPr/>
        </p:nvSpPr>
        <p:spPr>
          <a:xfrm>
            <a:off x="137160" y="822960"/>
            <a:ext cx="73152" cy="173736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13" name="Text 11"/>
          <p:cNvSpPr/>
          <p:nvPr/>
        </p:nvSpPr>
        <p:spPr>
          <a:xfrm>
            <a:off x="301752" y="9144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1752" y="12252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7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" y="148132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development language. Handles all logic, API calls, data processing, and logging.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82296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17" name="Shape 15"/>
          <p:cNvSpPr/>
          <p:nvPr/>
        </p:nvSpPr>
        <p:spPr>
          <a:xfrm>
            <a:off x="2377440" y="822960"/>
            <a:ext cx="73152" cy="173736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18" name="Text 16"/>
          <p:cNvSpPr/>
          <p:nvPr/>
        </p:nvSpPr>
        <p:spPr>
          <a:xfrm>
            <a:off x="2542032" y="9144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42032" y="12252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42032" y="148132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entire web interface in the browser. Handles inputs, charts, session state, and URL routing.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82296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22" name="Shape 20"/>
          <p:cNvSpPr/>
          <p:nvPr/>
        </p:nvSpPr>
        <p:spPr>
          <a:xfrm>
            <a:off x="4617720" y="822960"/>
            <a:ext cx="73152" cy="17373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23" name="Text 21"/>
          <p:cNvSpPr/>
          <p:nvPr/>
        </p:nvSpPr>
        <p:spPr>
          <a:xfrm>
            <a:off x="4782312" y="9144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82312" y="12252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2312" y="148132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OHLCV historical data and ticker metadata (including currency) from Yahoo Finance API.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82296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27" name="Shape 25"/>
          <p:cNvSpPr/>
          <p:nvPr/>
        </p:nvSpPr>
        <p:spPr>
          <a:xfrm>
            <a:off x="6858000" y="822960"/>
            <a:ext cx="73152" cy="1737360"/>
          </a:xfrm>
          <a:prstGeom prst="rect">
            <a:avLst/>
          </a:prstGeom>
          <a:solidFill>
            <a:srgbClr val="130654"/>
          </a:solidFill>
          <a:ln w="12700">
            <a:solidFill>
              <a:srgbClr val="130654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28" name="Text 26"/>
          <p:cNvSpPr/>
          <p:nvPr/>
        </p:nvSpPr>
        <p:spPr>
          <a:xfrm>
            <a:off x="7022592" y="9144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22592" y="12252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0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22592" y="148132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operations: column flattening, date handling, table display, and data slicing.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7160" y="269748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32" name="Shape 30"/>
          <p:cNvSpPr/>
          <p:nvPr/>
        </p:nvSpPr>
        <p:spPr>
          <a:xfrm>
            <a:off x="137160" y="2697480"/>
            <a:ext cx="73152" cy="1737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33" name="Text 31"/>
          <p:cNvSpPr/>
          <p:nvPr/>
        </p:nvSpPr>
        <p:spPr>
          <a:xfrm>
            <a:off x="301752" y="27889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01752" y="30998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1752" y="335584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ADF test (adfuller), seasonal_decompose, and SARIMAX — the core analytical engine.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77440" y="269748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37" name="Shape 35"/>
          <p:cNvSpPr/>
          <p:nvPr/>
        </p:nvSpPr>
        <p:spPr>
          <a:xfrm>
            <a:off x="2377440" y="2697480"/>
            <a:ext cx="73152" cy="1737360"/>
          </a:xfrm>
          <a:prstGeom prst="rect">
            <a:avLst/>
          </a:prstGeom>
          <a:solidFill>
            <a:srgbClr val="3F4F75"/>
          </a:solidFill>
          <a:ln w="12700">
            <a:solidFill>
              <a:srgbClr val="3F4F75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38" name="Text 36"/>
          <p:cNvSpPr/>
          <p:nvPr/>
        </p:nvSpPr>
        <p:spPr>
          <a:xfrm>
            <a:off x="2542032" y="27889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542032" y="30998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4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42032" y="335584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interactive line charts for price history, decomposition components, and forecast overlay.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17720" y="269748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42" name="Shape 40"/>
          <p:cNvSpPr/>
          <p:nvPr/>
        </p:nvSpPr>
        <p:spPr>
          <a:xfrm>
            <a:off x="4617720" y="2697480"/>
            <a:ext cx="73152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43" name="Text 41"/>
          <p:cNvSpPr/>
          <p:nvPr/>
        </p:nvSpPr>
        <p:spPr>
          <a:xfrm>
            <a:off x="4782312" y="27889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OS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82312" y="30998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82312" y="335584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Python modules for reading/writing the search_log.json admin log file.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-5486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 — 6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user journey from input to forecast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2296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12" name="Shape 10"/>
          <p:cNvSpPr/>
          <p:nvPr/>
        </p:nvSpPr>
        <p:spPr>
          <a:xfrm>
            <a:off x="164592" y="822960"/>
            <a:ext cx="402336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13" name="Text 11"/>
          <p:cNvSpPr/>
          <p:nvPr/>
        </p:nvSpPr>
        <p:spPr>
          <a:xfrm>
            <a:off x="164592" y="822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4320" y="1280160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Enter: Ticker symbol, Start date, End date, Forecast days. All fields required. Date validation ensures start &lt; end.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45536" y="82296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17" name="Shape 15"/>
          <p:cNvSpPr/>
          <p:nvPr/>
        </p:nvSpPr>
        <p:spPr>
          <a:xfrm>
            <a:off x="3145536" y="822960"/>
            <a:ext cx="402336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18" name="Text 16"/>
          <p:cNvSpPr/>
          <p:nvPr/>
        </p:nvSpPr>
        <p:spPr>
          <a:xfrm>
            <a:off x="3145536" y="822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02736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55264" y="1280160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yf.download() pulls OHLCV data. yf.Ticker().info fetches currency. MultiIndex columns are flattened automatically.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82296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22" name="Shape 20"/>
          <p:cNvSpPr/>
          <p:nvPr/>
        </p:nvSpPr>
        <p:spPr>
          <a:xfrm>
            <a:off x="6126480" y="822960"/>
            <a:ext cx="402336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23" name="Text 21"/>
          <p:cNvSpPr/>
          <p:nvPr/>
        </p:nvSpPr>
        <p:spPr>
          <a:xfrm>
            <a:off x="6126480" y="822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583680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+ Charts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36208" y="1280160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metric cards displayed (price, return, high, low, avg) with correct currency symbol. Interactive Plotly chart for all columns.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4592" y="27432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27" name="Shape 25"/>
          <p:cNvSpPr/>
          <p:nvPr/>
        </p:nvSpPr>
        <p:spPr>
          <a:xfrm>
            <a:off x="164592" y="2743200"/>
            <a:ext cx="402336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28" name="Text 26"/>
          <p:cNvSpPr/>
          <p:nvPr/>
        </p:nvSpPr>
        <p:spPr>
          <a:xfrm>
            <a:off x="164592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1792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+ Decompose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74320" y="3200400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stationarity test run. If data ≥ 24 points, seasonal_decompose splits series into trend, seasonal, and residual components.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45536" y="27432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32" name="Shape 30"/>
          <p:cNvSpPr/>
          <p:nvPr/>
        </p:nvSpPr>
        <p:spPr>
          <a:xfrm>
            <a:off x="3145536" y="2743200"/>
            <a:ext cx="402336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33" name="Text 31"/>
          <p:cNvSpPr/>
          <p:nvPr/>
        </p:nvSpPr>
        <p:spPr>
          <a:xfrm>
            <a:off x="3145536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602736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Forecast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255264" y="3200400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SARIMAX(2,1,2)(2,1,2,12) fitted with disp=False. Forecast generated from len(df) to len(df)+forecast_days. Search silently logged.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6480" y="27432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37" name="Shape 35"/>
          <p:cNvSpPr/>
          <p:nvPr/>
        </p:nvSpPr>
        <p:spPr>
          <a:xfrm>
            <a:off x="6126480" y="2743200"/>
            <a:ext cx="402336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38" name="Text 36"/>
          <p:cNvSpPr/>
          <p:nvPr/>
        </p:nvSpPr>
        <p:spPr>
          <a:xfrm>
            <a:off x="6126480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58368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Display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36208" y="3200400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chart: historical (blue) + forecast (dotted green). Forecast table + last 20 historical rows shown side by side.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-274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Modules — Explained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lines of code and what they 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4592" y="822960"/>
            <a:ext cx="431596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12" name="Shape 10"/>
          <p:cNvSpPr/>
          <p:nvPr/>
        </p:nvSpPr>
        <p:spPr>
          <a:xfrm>
            <a:off x="164592" y="822960"/>
            <a:ext cx="4315968" cy="640080"/>
          </a:xfrm>
          <a:prstGeom prst="rect">
            <a:avLst/>
          </a:prstGeom>
          <a:solidFill>
            <a:srgbClr val="1E2532"/>
          </a:solidFill>
          <a:ln w="12700">
            <a:solidFill>
              <a:srgbClr val="1E2532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3" name="Text 11"/>
          <p:cNvSpPr/>
          <p:nvPr/>
        </p:nvSpPr>
        <p:spPr>
          <a:xfrm>
            <a:off x="256032" y="859536"/>
            <a:ext cx="4133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yf.download(ticker, start=start_date, end=end_date)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" y="1517904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historical OHLCV stock data from Yahoo Finance for the user-selected ticker and date range.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431596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4315968" cy="640080"/>
          </a:xfrm>
          <a:prstGeom prst="rect">
            <a:avLst/>
          </a:prstGeom>
          <a:solidFill>
            <a:srgbClr val="1E2532"/>
          </a:solidFill>
          <a:ln w="12700">
            <a:solidFill>
              <a:srgbClr val="1E2532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859536"/>
            <a:ext cx="4133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= yf.Ticker(ticker).info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 = info.get('currency', 'USD')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517904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ticker metadata to identify the trading currency. Returns 'INR' for NSE stocks, 'USD' for NYSE, etc.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4592" y="2148840"/>
            <a:ext cx="431596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20" name="Shape 18"/>
          <p:cNvSpPr/>
          <p:nvPr/>
        </p:nvSpPr>
        <p:spPr>
          <a:xfrm>
            <a:off x="164592" y="2148840"/>
            <a:ext cx="4315968" cy="640080"/>
          </a:xfrm>
          <a:prstGeom prst="rect">
            <a:avLst/>
          </a:prstGeom>
          <a:solidFill>
            <a:srgbClr val="1E2532"/>
          </a:solidFill>
          <a:ln w="12700">
            <a:solidFill>
              <a:srgbClr val="1E2532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1" name="Text 19"/>
          <p:cNvSpPr/>
          <p:nvPr/>
        </p:nvSpPr>
        <p:spPr>
          <a:xfrm>
            <a:off x="256032" y="2185416"/>
            <a:ext cx="4133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adf_pval = adfuller(df[col])[1]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adf_pval &lt; 0.05:  # stationary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" y="2843784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test — p-value below 0.05 means the series is stationary. Required for SARIMA. d=1 handles non-stationarity anyway.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148840"/>
            <a:ext cx="431596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24" name="Shape 22"/>
          <p:cNvSpPr/>
          <p:nvPr/>
        </p:nvSpPr>
        <p:spPr>
          <a:xfrm>
            <a:off x="4663440" y="2148840"/>
            <a:ext cx="4315968" cy="640080"/>
          </a:xfrm>
          <a:prstGeom prst="rect">
            <a:avLst/>
          </a:prstGeom>
          <a:solidFill>
            <a:srgbClr val="1E2532"/>
          </a:solidFill>
          <a:ln w="12700">
            <a:solidFill>
              <a:srgbClr val="1E2532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5" name="Text 23"/>
          <p:cNvSpPr/>
          <p:nvPr/>
        </p:nvSpPr>
        <p:spPr>
          <a:xfrm>
            <a:off x="4754880" y="2185416"/>
            <a:ext cx="4133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decomp = seasonal_decompose(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df[col], model='additive', period=12)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843784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series into Trend + Seasonal + Residual. Needs 24+ data points (2 full cycles of period=12).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4592" y="3474720"/>
            <a:ext cx="431596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28" name="Shape 26"/>
          <p:cNvSpPr/>
          <p:nvPr/>
        </p:nvSpPr>
        <p:spPr>
          <a:xfrm>
            <a:off x="164592" y="3474720"/>
            <a:ext cx="4315968" cy="640080"/>
          </a:xfrm>
          <a:prstGeom prst="rect">
            <a:avLst/>
          </a:prstGeom>
          <a:solidFill>
            <a:srgbClr val="1E2532"/>
          </a:solidFill>
          <a:ln w="12700">
            <a:solidFill>
              <a:srgbClr val="1E2532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9" name="Text 27"/>
          <p:cNvSpPr/>
          <p:nvPr/>
        </p:nvSpPr>
        <p:spPr>
          <a:xfrm>
            <a:off x="256032" y="3511296"/>
            <a:ext cx="4133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sarima = SARIMAX(df[col],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order=(2,1,2),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seasonal_order=(2,1,2,12)).fit(disp=False)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" y="4169664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SARIMA model. p=2 past values, d=1 differencing, q=2 error terms. Seasonal period 12. disp=False hides logs.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474720"/>
            <a:ext cx="431596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32" name="Shape 30"/>
          <p:cNvSpPr/>
          <p:nvPr/>
        </p:nvSpPr>
        <p:spPr>
          <a:xfrm>
            <a:off x="4663440" y="3474720"/>
            <a:ext cx="4315968" cy="640080"/>
          </a:xfrm>
          <a:prstGeom prst="rect">
            <a:avLst/>
          </a:prstGeom>
          <a:solidFill>
            <a:srgbClr val="1E2532"/>
          </a:solidFill>
          <a:ln w="12700">
            <a:solidFill>
              <a:srgbClr val="1E2532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3" name="Text 31"/>
          <p:cNvSpPr/>
          <p:nvPr/>
        </p:nvSpPr>
        <p:spPr>
          <a:xfrm>
            <a:off x="4754880" y="3511296"/>
            <a:ext cx="4133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= sarima.get_prediction(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start=len(df), end=len(df)+forecast_days)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4169664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forecast values beyond the last known data point for the user-specified number of days ahead.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-15969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Model — Deep Dive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forecasting engine 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822960"/>
            <a:ext cx="877824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2" name="Text 10"/>
          <p:cNvSpPr/>
          <p:nvPr/>
        </p:nvSpPr>
        <p:spPr>
          <a:xfrm>
            <a:off x="320040" y="89611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B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SARIMAX(df[col],  order=(2, 1, 2),  seasonal_order=(2, 1, 2, 12)).fit(disp=False)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1554480"/>
            <a:ext cx="207568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14" name="Shape 12"/>
          <p:cNvSpPr/>
          <p:nvPr/>
        </p:nvSpPr>
        <p:spPr>
          <a:xfrm>
            <a:off x="182880" y="1554480"/>
            <a:ext cx="2075688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5" name="Text 13"/>
          <p:cNvSpPr/>
          <p:nvPr/>
        </p:nvSpPr>
        <p:spPr>
          <a:xfrm>
            <a:off x="274320" y="159105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4320" y="2084832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2395728"/>
            <a:ext cx="189280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last 2 price observations as predictors. Captures short-term momentum and persistence.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95728" y="1554480"/>
            <a:ext cx="207568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19" name="Shape 17"/>
          <p:cNvSpPr/>
          <p:nvPr/>
        </p:nvSpPr>
        <p:spPr>
          <a:xfrm>
            <a:off x="2395728" y="1554480"/>
            <a:ext cx="2075688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0" name="Text 18"/>
          <p:cNvSpPr/>
          <p:nvPr/>
        </p:nvSpPr>
        <p:spPr>
          <a:xfrm>
            <a:off x="2487168" y="159105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87168" y="2084832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87168" y="2395728"/>
            <a:ext cx="189280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differencing applied once. Transforms non-stationary price series into stationary returns.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08576" y="1554480"/>
            <a:ext cx="207568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24" name="Shape 22"/>
          <p:cNvSpPr/>
          <p:nvPr/>
        </p:nvSpPr>
        <p:spPr>
          <a:xfrm>
            <a:off x="4608576" y="1554480"/>
            <a:ext cx="2075688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5" name="Text 23"/>
          <p:cNvSpPr/>
          <p:nvPr/>
        </p:nvSpPr>
        <p:spPr>
          <a:xfrm>
            <a:off x="4700016" y="159105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2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00016" y="2084832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0016" y="2395728"/>
            <a:ext cx="189280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last 2 forecast errors as inputs. Corrects for recent prediction mistakes.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21424" y="1554480"/>
            <a:ext cx="207568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29" name="Shape 27"/>
          <p:cNvSpPr/>
          <p:nvPr/>
        </p:nvSpPr>
        <p:spPr>
          <a:xfrm>
            <a:off x="6821424" y="1554480"/>
            <a:ext cx="2075688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0" name="Text 28"/>
          <p:cNvSpPr/>
          <p:nvPr/>
        </p:nvSpPr>
        <p:spPr>
          <a:xfrm>
            <a:off x="6912864" y="159105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P=Q=2</a:t>
            </a:r>
            <a:r>
              <a:rPr lang="en-US" sz="1600" b="1" dirty="0">
                <a:solidFill>
                  <a:srgbClr val="FCB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600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</a:t>
            </a:r>
            <a:r>
              <a:rPr lang="en-US" sz="1600" b="1" dirty="0">
                <a:solidFill>
                  <a:srgbClr val="FCB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600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S=12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12864" y="2084832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12864" y="2395728"/>
            <a:ext cx="189280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AR, I, MA structure applied at the seasonal level. Period 12 = recurring 12-day cycle.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2880" y="3858768"/>
            <a:ext cx="8778240" cy="822960"/>
          </a:xfrm>
          <a:prstGeom prst="rect">
            <a:avLst/>
          </a:prstGeom>
          <a:solidFill>
            <a:srgbClr val="F7F8FA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4" name="Text 32"/>
          <p:cNvSpPr/>
          <p:nvPr/>
        </p:nvSpPr>
        <p:spPr>
          <a:xfrm>
            <a:off x="320040" y="393192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Generation: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03120" y="3931920"/>
            <a:ext cx="6766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= sarima.get_prediction(start=len(df), end=len(df)+forecast_days)  →  predicted_mean gives point estimates  →  Index set to date_range(start=end_date, periods=N, freq='D')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-44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Backend 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monitoring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8229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 dirty="0"/>
          </a:p>
        </p:txBody>
      </p:sp>
      <p:sp>
        <p:nvSpPr>
          <p:cNvPr id="12" name="Shape 10"/>
          <p:cNvSpPr/>
          <p:nvPr/>
        </p:nvSpPr>
        <p:spPr>
          <a:xfrm>
            <a:off x="182880" y="822960"/>
            <a:ext cx="4114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13" name="Text 11"/>
          <p:cNvSpPr/>
          <p:nvPr/>
        </p:nvSpPr>
        <p:spPr>
          <a:xfrm>
            <a:off x="274320" y="8595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How It's Hidden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" y="1298448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panel is NOT linked anywhere in the public app.
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URL:
</a:t>
            </a:r>
            <a:r>
              <a:rPr lang="en-US" sz="1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localhost:8501/?admin=1
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 by reading the URL query parameter:
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st.query_params
if params.get('admin','') == '1':
    admin_login()</a:t>
            </a:r>
            <a:r>
              <a:rPr lang="en-US" sz="10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users at localhost:8501 never see 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822960"/>
            <a:ext cx="4389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 dirty="0"/>
          </a:p>
        </p:txBody>
      </p:sp>
      <p:sp>
        <p:nvSpPr>
          <p:cNvPr id="16" name="Shape 14"/>
          <p:cNvSpPr/>
          <p:nvPr/>
        </p:nvSpPr>
        <p:spPr>
          <a:xfrm>
            <a:off x="4572000" y="822960"/>
            <a:ext cx="43891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8595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What Admins Can See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1362456"/>
            <a:ext cx="7315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19" name="Text 17"/>
          <p:cNvSpPr/>
          <p:nvPr/>
        </p:nvSpPr>
        <p:spPr>
          <a:xfrm>
            <a:off x="4828032" y="13624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Searches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13624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all forecasts ever run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883664"/>
            <a:ext cx="7315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22" name="Text 20"/>
          <p:cNvSpPr/>
          <p:nvPr/>
        </p:nvSpPr>
        <p:spPr>
          <a:xfrm>
            <a:off x="4828032" y="18836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Tickers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18836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stocks people are searching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404872"/>
            <a:ext cx="7315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25" name="Text 23"/>
          <p:cNvSpPr/>
          <p:nvPr/>
        </p:nvSpPr>
        <p:spPr>
          <a:xfrm>
            <a:off x="4828032" y="2404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Per-Search Detail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24048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Ticker, date range, column used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926080"/>
            <a:ext cx="7315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28" name="Text 26"/>
          <p:cNvSpPr/>
          <p:nvPr/>
        </p:nvSpPr>
        <p:spPr>
          <a:xfrm>
            <a:off x="4828032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Parameters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2926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d, q values for each run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447288"/>
            <a:ext cx="7315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31" name="Text 29"/>
          <p:cNvSpPr/>
          <p:nvPr/>
        </p:nvSpPr>
        <p:spPr>
          <a:xfrm>
            <a:off x="4828032" y="3447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Summary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34472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AIC, BIC, coefficients, p-values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968496"/>
            <a:ext cx="7315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34" name="Text 32"/>
          <p:cNvSpPr/>
          <p:nvPr/>
        </p:nvSpPr>
        <p:spPr>
          <a:xfrm>
            <a:off x="4828032" y="3968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75120" y="39684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entire log as spreadsheet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— Input Panel &amp; KPI Metrics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users see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822960"/>
            <a:ext cx="8778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320040" y="7955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StockCast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106070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Forecasting Platform · Powered by SARIMA · Data from Yahoo Finance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" y="1353312"/>
            <a:ext cx="8778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320040" y="13898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Enter Details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" y="16276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1810512"/>
            <a:ext cx="2011680" cy="274320"/>
          </a:xfrm>
          <a:prstGeom prst="rect">
            <a:avLst/>
          </a:prstGeom>
          <a:solidFill>
            <a:srgbClr val="F7F8FA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320040" y="18288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16276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468880" y="1810512"/>
            <a:ext cx="2011680" cy="274320"/>
          </a:xfrm>
          <a:prstGeom prst="rect">
            <a:avLst/>
          </a:prstGeom>
          <a:solidFill>
            <a:srgbClr val="F7F8FA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2514600" y="18288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2026-03-20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16276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Symbol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63440" y="1810512"/>
            <a:ext cx="2011680" cy="274320"/>
          </a:xfrm>
          <a:prstGeom prst="rect">
            <a:avLst/>
          </a:prstGeom>
          <a:solidFill>
            <a:srgbClr val="F7F8FA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4709160" y="18288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AAPL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16276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Days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858000" y="1810512"/>
            <a:ext cx="2011680" cy="274320"/>
          </a:xfrm>
          <a:prstGeom prst="rect">
            <a:avLst/>
          </a:prstGeom>
          <a:solidFill>
            <a:srgbClr val="F7F8FA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6903720" y="18288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2267712"/>
            <a:ext cx="168249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274320" y="2322576"/>
            <a:ext cx="1499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74320" y="2542032"/>
            <a:ext cx="1499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$189.30 (USD)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956816" y="2267712"/>
            <a:ext cx="168249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2" name="Text 30"/>
          <p:cNvSpPr/>
          <p:nvPr/>
        </p:nvSpPr>
        <p:spPr>
          <a:xfrm>
            <a:off x="2048256" y="2322576"/>
            <a:ext cx="1499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048256" y="2542032"/>
            <a:ext cx="1499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+23.4%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730752" y="2267712"/>
            <a:ext cx="168249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5" name="Text 33"/>
          <p:cNvSpPr/>
          <p:nvPr/>
        </p:nvSpPr>
        <p:spPr>
          <a:xfrm>
            <a:off x="3822192" y="2322576"/>
            <a:ext cx="1499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High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22192" y="2542032"/>
            <a:ext cx="1499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$198.23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04688" y="2267712"/>
            <a:ext cx="168249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8" name="Text 36"/>
          <p:cNvSpPr/>
          <p:nvPr/>
        </p:nvSpPr>
        <p:spPr>
          <a:xfrm>
            <a:off x="5596128" y="2322576"/>
            <a:ext cx="1499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Low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596128" y="2542032"/>
            <a:ext cx="1499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$164.08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278624" y="2267712"/>
            <a:ext cx="168249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1" name="Text 39"/>
          <p:cNvSpPr/>
          <p:nvPr/>
        </p:nvSpPr>
        <p:spPr>
          <a:xfrm>
            <a:off x="7370064" y="2322576"/>
            <a:ext cx="1499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370064" y="2542032"/>
            <a:ext cx="1499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$181.56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82880" y="3273552"/>
            <a:ext cx="877824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at top shows app name and tagline — no login prompt for public users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panel: 4 fields in a single horizontal row — all visible without scrolling. Date fields use native date picker. No hardcoded defaults.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metric cards auto-update when a ticker is entered. Currency symbol (₹, $, €) detected automatically from Yahoo Finance metadata.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field is empty, a blue info strip guides the user. If dates are invalid, a red error message appears — no raw traceback ever shown.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E5A52-1C9B-B70C-9BE1-49A338F11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FA096B-D960-8AE7-BB94-F0BE6B8F26A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42F2B5A-3949-E56D-4857-640FE5A364FF}"/>
              </a:ext>
            </a:extLst>
          </p:cNvPr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F146BC-BF6C-C4B1-83CF-31BBDDBABDFC}"/>
              </a:ext>
            </a:extLst>
          </p:cNvPr>
          <p:cNvSpPr/>
          <p:nvPr/>
        </p:nvSpPr>
        <p:spPr>
          <a:xfrm>
            <a:off x="274320" y="5486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— Forecast Results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9AE0C0-22DF-8BE5-1230-D4CAF2F6F09E}"/>
              </a:ext>
            </a:extLst>
          </p:cNvPr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output: historical vs predicted prices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A0A93D-D07A-B38F-FD3F-8AE61254E050}"/>
              </a:ext>
            </a:extLst>
          </p:cNvPr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0A3B82C-9226-E946-D3E5-8C7205DD291E}"/>
              </a:ext>
            </a:extLst>
          </p:cNvPr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0E185A2-962A-278C-CFE1-C333908FB308}"/>
              </a:ext>
            </a:extLst>
          </p:cNvPr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23DCCDA-E43D-8AD7-29CD-09569A5F3646}"/>
              </a:ext>
            </a:extLst>
          </p:cNvPr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321C205-42CD-B133-64BB-35BED1DA2F21}"/>
              </a:ext>
            </a:extLst>
          </p:cNvPr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D4D3B28-B60D-AF98-B109-313111ADA809}"/>
              </a:ext>
            </a:extLst>
          </p:cNvPr>
          <p:cNvSpPr/>
          <p:nvPr/>
        </p:nvSpPr>
        <p:spPr>
          <a:xfrm>
            <a:off x="320040" y="7365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87A78BD-A0B0-C14E-CF0C-787FD6435F28}"/>
              </a:ext>
            </a:extLst>
          </p:cNvPr>
          <p:cNvSpPr/>
          <p:nvPr/>
        </p:nvSpPr>
        <p:spPr>
          <a:xfrm>
            <a:off x="786384" y="1298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E516616-1A91-A9B3-35D0-FF487FE898A1}"/>
              </a:ext>
            </a:extLst>
          </p:cNvPr>
          <p:cNvSpPr/>
          <p:nvPr/>
        </p:nvSpPr>
        <p:spPr>
          <a:xfrm>
            <a:off x="2157984" y="12984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5871349-86FC-10FB-4CFA-CA0D16662796}"/>
              </a:ext>
            </a:extLst>
          </p:cNvPr>
          <p:cNvSpPr/>
          <p:nvPr/>
        </p:nvSpPr>
        <p:spPr>
          <a:xfrm>
            <a:off x="274320" y="21031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43D79EA-6772-5853-1307-F1C9797BF8B5}"/>
              </a:ext>
            </a:extLst>
          </p:cNvPr>
          <p:cNvSpPr/>
          <p:nvPr/>
        </p:nvSpPr>
        <p:spPr>
          <a:xfrm>
            <a:off x="3637391" y="35295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VALUES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8AE18A0-195E-E860-753A-80EE766249D5}"/>
              </a:ext>
            </a:extLst>
          </p:cNvPr>
          <p:cNvSpPr/>
          <p:nvPr/>
        </p:nvSpPr>
        <p:spPr>
          <a:xfrm>
            <a:off x="274320" y="3529584"/>
            <a:ext cx="41148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39D90EC-1A8D-5559-CFA8-0068322A6AB3}"/>
              </a:ext>
            </a:extLst>
          </p:cNvPr>
          <p:cNvSpPr/>
          <p:nvPr/>
        </p:nvSpPr>
        <p:spPr>
          <a:xfrm>
            <a:off x="4800600" y="323697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HISTORICAL (LAST 20 DAYS)</a:t>
            </a:r>
            <a:endParaRPr lang="en-US" sz="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47E406E-0B76-BE8A-3C6C-44F8E5D2125E}"/>
              </a:ext>
            </a:extLst>
          </p:cNvPr>
          <p:cNvSpPr/>
          <p:nvPr/>
        </p:nvSpPr>
        <p:spPr>
          <a:xfrm>
            <a:off x="4800600" y="3529584"/>
            <a:ext cx="41148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1B95BB6-FFEA-A32F-D6CC-56743D496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011" y="691631"/>
            <a:ext cx="6857416" cy="304937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A6DFCB1-2905-9B33-ED2C-FC35D6878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00578"/>
            <a:ext cx="3993746" cy="2458011"/>
          </a:xfrm>
          <a:prstGeom prst="rect">
            <a:avLst/>
          </a:prstGeom>
        </p:spPr>
      </p:pic>
      <p:sp>
        <p:nvSpPr>
          <p:cNvPr id="11" name="Shape 18">
            <a:extLst>
              <a:ext uri="{FF2B5EF4-FFF2-40B4-BE49-F238E27FC236}">
                <a16:creationId xmlns:a16="http://schemas.microsoft.com/office/drawing/2014/main" id="{3061050F-0DD5-D905-30B7-77326298F9FF}"/>
              </a:ext>
            </a:extLst>
          </p:cNvPr>
          <p:cNvSpPr/>
          <p:nvPr/>
        </p:nvSpPr>
        <p:spPr>
          <a:xfrm>
            <a:off x="0" y="2027980"/>
            <a:ext cx="2782957" cy="256032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62757A-0F92-49E7-F992-472BC937297D}"/>
              </a:ext>
            </a:extLst>
          </p:cNvPr>
          <p:cNvSpPr txBox="1"/>
          <p:nvPr/>
        </p:nvSpPr>
        <p:spPr>
          <a:xfrm>
            <a:off x="82296" y="1981005"/>
            <a:ext cx="4823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VALUES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10261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-274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 &amp;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test cases — all passed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874146"/>
              </p:ext>
            </p:extLst>
          </p:nvPr>
        </p:nvGraphicFramePr>
        <p:xfrm>
          <a:off x="785854" y="764385"/>
          <a:ext cx="7406640" cy="38862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TC 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Expected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Valid Indian NSE stock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RELIANCE.NS, 2024-01-01 to 2025-01-01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₹ symbol, all features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Valid US NYSE stock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AAPL, same range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$ symbol, forecast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Valid European stock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SAP.DE (Germany)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€ symbol displayed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Invalid ticker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XYZABC999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Friendly error message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Start &gt; End date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Start: 2025-06, End: 2024-01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Error shown, no crash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TC-06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3-day date range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Any ticker, 3 days only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Amber warning: need 24+ points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TC-07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5-year range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AAPL, 2020-2025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All features work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TC-08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Admin login - correct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poojan / poojan123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Dashboard displayed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TC-09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Admin login - wrong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poojan / wrongpass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Error: Wrong credentials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Public at /?admin=1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No credentials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Login page, no bypass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TC-11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Currency: INR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TCS.NS or INFY.NS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₹ in all KPI cards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Forecast = 1 day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Any stock, days=1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1-row forecast table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TC-13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Forecast = 365 days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Any stock, days=365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365-row forecast table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TC-14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CSV download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Admin, after searches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CSV downloaded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TC-15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SARIMA convergence fail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Very noisy short data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Friendly error, no crash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TC-16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Empty ticker field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Submit with no ticker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532"/>
                          </a:solidFill>
                        </a:rPr>
                        <a:t>Info strip guidance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9F6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-182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encountered during development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822960"/>
            <a:ext cx="4315968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12" name="Shape 10"/>
          <p:cNvSpPr/>
          <p:nvPr/>
        </p:nvSpPr>
        <p:spPr>
          <a:xfrm>
            <a:off x="182880" y="822960"/>
            <a:ext cx="4315968" cy="292608"/>
          </a:xfrm>
          <a:prstGeom prst="rect">
            <a:avLst/>
          </a:prstGeom>
          <a:solidFill>
            <a:srgbClr val="E02424"/>
          </a:solidFill>
          <a:ln w="12700">
            <a:solidFill>
              <a:srgbClr val="E02424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3" name="Text 11"/>
          <p:cNvSpPr/>
          <p:nvPr/>
        </p:nvSpPr>
        <p:spPr>
          <a:xfrm>
            <a:off x="274320" y="85953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yfinance MultiIndex Columns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117043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returns multi-level column headers (e.g., ('Close', 'AAPL')) for some tickers, causing KeyError crashes.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584032"/>
            <a:ext cx="457200" cy="164592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6" name="Text 14"/>
          <p:cNvSpPr/>
          <p:nvPr/>
        </p:nvSpPr>
        <p:spPr>
          <a:xfrm>
            <a:off x="274320" y="157992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15270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check: if isinstance(df.columns, pd.MultiIndex): df.columns = [' '.join(col).strip()]. Flattens to 'Close AAPL'.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81728" y="822960"/>
            <a:ext cx="4315968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19" name="Shape 17"/>
          <p:cNvSpPr/>
          <p:nvPr/>
        </p:nvSpPr>
        <p:spPr>
          <a:xfrm>
            <a:off x="4681728" y="822960"/>
            <a:ext cx="4315968" cy="292608"/>
          </a:xfrm>
          <a:prstGeom prst="rect">
            <a:avLst/>
          </a:prstGeom>
          <a:solidFill>
            <a:srgbClr val="E02424"/>
          </a:solidFill>
          <a:ln w="12700">
            <a:solidFill>
              <a:srgbClr val="E02424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0" name="Text 18"/>
          <p:cNvSpPr/>
          <p:nvPr/>
        </p:nvSpPr>
        <p:spPr>
          <a:xfrm>
            <a:off x="4773168" y="85953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Streamlit Sidebar Hidden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117043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toggle arrow was invisible on some screen sizes/browsers, making inputs unreachable for users.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18888" y="1604772"/>
            <a:ext cx="457200" cy="164592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3" name="Text 21"/>
          <p:cNvSpPr/>
          <p:nvPr/>
        </p:nvSpPr>
        <p:spPr>
          <a:xfrm>
            <a:off x="4800600" y="1600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21808" y="15270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all inputs to the main page in a styled card. Sidebar hidden via CSS. All fields visible without any toggle.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2157984"/>
            <a:ext cx="4315968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26" name="Shape 24"/>
          <p:cNvSpPr/>
          <p:nvPr/>
        </p:nvSpPr>
        <p:spPr>
          <a:xfrm>
            <a:off x="182880" y="2157984"/>
            <a:ext cx="4315968" cy="292608"/>
          </a:xfrm>
          <a:prstGeom prst="rect">
            <a:avLst/>
          </a:prstGeom>
          <a:solidFill>
            <a:srgbClr val="E02424"/>
          </a:solidFill>
          <a:ln w="12700">
            <a:solidFill>
              <a:srgbClr val="E02424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7" name="Text 25"/>
          <p:cNvSpPr/>
          <p:nvPr/>
        </p:nvSpPr>
        <p:spPr>
          <a:xfrm>
            <a:off x="274320" y="21945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ADF/SARIMA on Short Data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250545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seasonal_decompose and SARIMAX crashed with raw ValueError when less than 24 data points were provided.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953512"/>
            <a:ext cx="457200" cy="164592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0" name="Text 28"/>
          <p:cNvSpPr/>
          <p:nvPr/>
        </p:nvSpPr>
        <p:spPr>
          <a:xfrm>
            <a:off x="274320" y="294304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2862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MIN_POINTS = 24 check before calling both functions. Shows amber info box with guidance instead of crash.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81728" y="2157984"/>
            <a:ext cx="4315968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33" name="Shape 31"/>
          <p:cNvSpPr/>
          <p:nvPr/>
        </p:nvSpPr>
        <p:spPr>
          <a:xfrm>
            <a:off x="4681728" y="2157984"/>
            <a:ext cx="4315968" cy="292608"/>
          </a:xfrm>
          <a:prstGeom prst="rect">
            <a:avLst/>
          </a:prstGeom>
          <a:solidFill>
            <a:srgbClr val="E02424"/>
          </a:solidFill>
          <a:ln w="12700">
            <a:solidFill>
              <a:srgbClr val="E02424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4" name="Text 32"/>
          <p:cNvSpPr/>
          <p:nvPr/>
        </p:nvSpPr>
        <p:spPr>
          <a:xfrm>
            <a:off x="4773168" y="21945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Currency Always Shows USD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73168" y="250545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version hardcoded ₹ symbol. Users of US/European stocks saw wrong currency symbol.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28032" y="2972993"/>
            <a:ext cx="457200" cy="164592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7" name="Text 35"/>
          <p:cNvSpPr/>
          <p:nvPr/>
        </p:nvSpPr>
        <p:spPr>
          <a:xfrm>
            <a:off x="4828032" y="296225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21808" y="2862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get_currency() using yf.Ticker(ticker).info to fetch real currency code and map to symbol dynamically.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3493008"/>
            <a:ext cx="4315968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40" name="Shape 38"/>
          <p:cNvSpPr/>
          <p:nvPr/>
        </p:nvSpPr>
        <p:spPr>
          <a:xfrm>
            <a:off x="182880" y="3493008"/>
            <a:ext cx="4315968" cy="292608"/>
          </a:xfrm>
          <a:prstGeom prst="rect">
            <a:avLst/>
          </a:prstGeom>
          <a:solidFill>
            <a:srgbClr val="E02424"/>
          </a:solidFill>
          <a:ln w="12700">
            <a:solidFill>
              <a:srgbClr val="E02424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41" name="Text 39"/>
          <p:cNvSpPr/>
          <p:nvPr/>
        </p:nvSpPr>
        <p:spPr>
          <a:xfrm>
            <a:off x="274320" y="35295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SARIMA Convergence Failure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74320" y="38404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certain stocks with extreme volatility, SARIMAX().fit() raised ConvergenceWarning or LinAlgError.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270248"/>
            <a:ext cx="457200" cy="164592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44" name="Text 42"/>
          <p:cNvSpPr/>
          <p:nvPr/>
        </p:nvSpPr>
        <p:spPr>
          <a:xfrm>
            <a:off x="274320" y="4261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2960" y="41970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fitting in try-except block. On failure, shows user-friendly red error box: 'Try 3 to 6 months of data'.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81728" y="3493008"/>
            <a:ext cx="4315968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47" name="Shape 45"/>
          <p:cNvSpPr/>
          <p:nvPr/>
        </p:nvSpPr>
        <p:spPr>
          <a:xfrm>
            <a:off x="4681728" y="3493008"/>
            <a:ext cx="4315968" cy="292608"/>
          </a:xfrm>
          <a:prstGeom prst="rect">
            <a:avLst/>
          </a:prstGeom>
          <a:solidFill>
            <a:srgbClr val="E02424"/>
          </a:solidFill>
          <a:ln w="12700">
            <a:solidFill>
              <a:srgbClr val="E02424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48" name="Text 46"/>
          <p:cNvSpPr/>
          <p:nvPr/>
        </p:nvSpPr>
        <p:spPr>
          <a:xfrm>
            <a:off x="4773168" y="35295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Admin Panel Discovery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773168" y="38404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admin access without creating a separate file or page that would be discoverable in source code.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00600" y="4325112"/>
            <a:ext cx="457200" cy="164592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51" name="Text 49"/>
          <p:cNvSpPr/>
          <p:nvPr/>
        </p:nvSpPr>
        <p:spPr>
          <a:xfrm>
            <a:off x="4800600" y="433041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21808" y="41970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st.query_params to read ?admin=1 URL parameter. Single-file routing — no extra files, no visible link.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4" name="Text 2"/>
          <p:cNvSpPr/>
          <p:nvPr/>
        </p:nvSpPr>
        <p:spPr>
          <a:xfrm>
            <a:off x="228600" y="-3657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next?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" y="822960"/>
            <a:ext cx="2121408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12" name="Shape 10"/>
          <p:cNvSpPr/>
          <p:nvPr/>
        </p:nvSpPr>
        <p:spPr>
          <a:xfrm>
            <a:off x="137160" y="822960"/>
            <a:ext cx="2121408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13" name="Text 11"/>
          <p:cNvSpPr/>
          <p:nvPr/>
        </p:nvSpPr>
        <p:spPr>
          <a:xfrm>
            <a:off x="210312" y="877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8961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Auto-ARIMA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" y="1298448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pmdarima's auto_arima() to automatically find optimal p, d, q values for each stock instead of fixed (2,1,2) defaults.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95728" y="822960"/>
            <a:ext cx="2121408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17" name="Shape 15"/>
          <p:cNvSpPr/>
          <p:nvPr/>
        </p:nvSpPr>
        <p:spPr>
          <a:xfrm>
            <a:off x="2395728" y="822960"/>
            <a:ext cx="2121408" cy="38404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18" name="Text 16"/>
          <p:cNvSpPr/>
          <p:nvPr/>
        </p:nvSpPr>
        <p:spPr>
          <a:xfrm>
            <a:off x="2468880" y="877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52928" y="8961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87168" y="1298448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Long Short-Term Memory neural network as an alternative forecasting model. Show comparison: SARIMA vs LSTM accuracy.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54296" y="822960"/>
            <a:ext cx="2121408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22" name="Shape 20"/>
          <p:cNvSpPr/>
          <p:nvPr/>
        </p:nvSpPr>
        <p:spPr>
          <a:xfrm>
            <a:off x="4654296" y="822960"/>
            <a:ext cx="2121408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23" name="Text 21"/>
          <p:cNvSpPr/>
          <p:nvPr/>
        </p:nvSpPr>
        <p:spPr>
          <a:xfrm>
            <a:off x="4727448" y="877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11496" y="8961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45736" y="1298448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95% prediction interval bands around the SARIMA forecast to communicate uncertainty to users.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12864" y="822960"/>
            <a:ext cx="2121408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27" name="Shape 25"/>
          <p:cNvSpPr/>
          <p:nvPr/>
        </p:nvSpPr>
        <p:spPr>
          <a:xfrm>
            <a:off x="6912864" y="822960"/>
            <a:ext cx="2121408" cy="38404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28" name="Text 26"/>
          <p:cNvSpPr/>
          <p:nvPr/>
        </p:nvSpPr>
        <p:spPr>
          <a:xfrm>
            <a:off x="6986016" y="877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70064" y="8961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04304" y="1298448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RSI, MACD, Bollinger Bands, Moving Averages as analysis tabs alongside the time-series forecast.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7160" y="2761488"/>
            <a:ext cx="2121408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32" name="Shape 30"/>
          <p:cNvSpPr/>
          <p:nvPr/>
        </p:nvSpPr>
        <p:spPr>
          <a:xfrm>
            <a:off x="137160" y="2761488"/>
            <a:ext cx="2121408" cy="38404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33" name="Text 31"/>
          <p:cNvSpPr/>
          <p:nvPr/>
        </p:nvSpPr>
        <p:spPr>
          <a:xfrm>
            <a:off x="210312" y="28163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" y="2834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28600" y="3236976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Streamlit Community Cloud so anyone can access the app without local installation.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95728" y="2761488"/>
            <a:ext cx="2121408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37" name="Shape 35"/>
          <p:cNvSpPr/>
          <p:nvPr/>
        </p:nvSpPr>
        <p:spPr>
          <a:xfrm>
            <a:off x="2395728" y="2761488"/>
            <a:ext cx="2121408" cy="384048"/>
          </a:xfrm>
          <a:prstGeom prst="rect">
            <a:avLst/>
          </a:prstGeom>
          <a:solidFill>
            <a:srgbClr val="E02424"/>
          </a:solidFill>
          <a:ln w="12700">
            <a:solidFill>
              <a:srgbClr val="E02424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38" name="Text 36"/>
          <p:cNvSpPr/>
          <p:nvPr/>
        </p:nvSpPr>
        <p:spPr>
          <a:xfrm>
            <a:off x="2468880" y="28163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852928" y="2834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Export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487168" y="3236976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download a PDF summary of their analysis including all charts, forecast table, and model summary.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54296" y="2761488"/>
            <a:ext cx="2121408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42" name="Shape 40"/>
          <p:cNvSpPr/>
          <p:nvPr/>
        </p:nvSpPr>
        <p:spPr>
          <a:xfrm>
            <a:off x="4654296" y="2761488"/>
            <a:ext cx="212140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43" name="Text 41"/>
          <p:cNvSpPr/>
          <p:nvPr/>
        </p:nvSpPr>
        <p:spPr>
          <a:xfrm>
            <a:off x="4727448" y="28163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11496" y="2834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Multi-Stock Compare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745736" y="3236976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entry of multiple tickers to compare historical performance and SARIMA forecasts on the same chart.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12864" y="2761488"/>
            <a:ext cx="2121408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 dirty="0"/>
          </a:p>
        </p:txBody>
      </p:sp>
      <p:sp>
        <p:nvSpPr>
          <p:cNvPr id="47" name="Shape 45"/>
          <p:cNvSpPr/>
          <p:nvPr/>
        </p:nvSpPr>
        <p:spPr>
          <a:xfrm>
            <a:off x="6912864" y="2761488"/>
            <a:ext cx="2121408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sz="3200" dirty="0"/>
          </a:p>
        </p:txBody>
      </p:sp>
      <p:sp>
        <p:nvSpPr>
          <p:cNvPr id="48" name="Text 46"/>
          <p:cNvSpPr/>
          <p:nvPr/>
        </p:nvSpPr>
        <p:spPr>
          <a:xfrm>
            <a:off x="6986016" y="28163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70064" y="2834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Backend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004304" y="3236976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JSON log file with SQLite/PostgreSQL for scalable admin log storage and richer querying.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206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what we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73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828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App  |  SEM 6 Mini Project  |  A.Y. 2025-26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0" y="4736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822960"/>
            <a:ext cx="877824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320040" y="89611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delivered a complete, production-quality Stock Market Forecasting App — from data retrieval through SARIMA modeling to interactive visualization — accessible to users with no programming background.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737360"/>
            <a:ext cx="8778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274320" y="17739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1773936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yfinance → cleaning → ADF test → decomposition → SARIMA → Plotly charts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231136"/>
            <a:ext cx="8778240" cy="420624"/>
          </a:xfrm>
          <a:prstGeom prst="rect">
            <a:avLst/>
          </a:prstGeom>
          <a:solidFill>
            <a:srgbClr val="F7F8FA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274320" y="22677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226771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currency detection for 14 currencies — ₹ INR for NSE, $ USD for NYSE, € EUR for XETRA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724912"/>
            <a:ext cx="8778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274320" y="27614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276148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admin backend at /?admin=1 — search logs, model summaries, CSV export — invisible to public users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218688"/>
            <a:ext cx="8778240" cy="420624"/>
          </a:xfrm>
          <a:prstGeom prst="rect">
            <a:avLst/>
          </a:prstGeom>
          <a:solidFill>
            <a:srgbClr val="F7F8FA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274320" y="325526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255264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 handling — all failures show friendly messages, zero raw Python tracebacks exposed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3712464"/>
            <a:ext cx="8778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274320" y="37490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37490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 test cases passed — functional, currency, validation, admin, and edge cases all verified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4206240"/>
            <a:ext cx="8778240" cy="420624"/>
          </a:xfrm>
          <a:prstGeom prst="rect">
            <a:avLst/>
          </a:prstGeom>
          <a:solidFill>
            <a:srgbClr val="F7F8FA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274320" y="424281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4242816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app (~280 lines Python + CSS) with URL routing — no database, no extra files needed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" y="4773168"/>
            <a:ext cx="8778240" cy="384048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Text 30"/>
          <p:cNvSpPr/>
          <p:nvPr/>
        </p:nvSpPr>
        <p:spPr>
          <a:xfrm>
            <a:off x="320040" y="4809744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  SARIMA modeling  ·  yfinance API integration  ·  URL-based routing  ·  Role-based access without a database  ·  Friendly UX design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CBD0D"/>
          </a:solidFill>
          <a:ln w="1270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80467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B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PATEL COLLEGE OF ENGINEERING &amp; TECHNOLOGY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  |  Mini Project (202040601)  |  A.Y. 2025-26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3072384"/>
            <a:ext cx="5486400" cy="0"/>
          </a:xfrm>
          <a:prstGeom prst="line">
            <a:avLst/>
          </a:prstGeom>
          <a:noFill/>
          <a:ln w="19050">
            <a:solidFill>
              <a:srgbClr val="FCBD0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Poojan Patel  (12302110501080)  &amp;  Shrey Patel  (12302110501081)
</a:t>
            </a:r>
            <a:r>
              <a:rPr lang="en-US" sz="10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6  |  </a:t>
            </a:r>
            <a:r>
              <a:rPr lang="en-US" sz="1000" dirty="0" err="1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0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CSE(IoT)  |  G.H. Patel College of Engineering &amp; Technology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3525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Prof. Ritesh Upadhyay  |  Department of Information Technology  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3517</Words>
  <Application>Microsoft Office PowerPoint</Application>
  <PresentationFormat>On-screen Show (16:9)</PresentationFormat>
  <Paragraphs>514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Market Forecasting App — Final Presentation</dc:title>
  <dc:subject>PptxGenJS Presentation</dc:subject>
  <dc:creator>PptxGenJS</dc:creator>
  <cp:lastModifiedBy>Poojan Patel</cp:lastModifiedBy>
  <cp:revision>5</cp:revision>
  <dcterms:created xsi:type="dcterms:W3CDTF">2026-03-20T18:24:59Z</dcterms:created>
  <dcterms:modified xsi:type="dcterms:W3CDTF">2026-03-22T05:47:38Z</dcterms:modified>
</cp:coreProperties>
</file>